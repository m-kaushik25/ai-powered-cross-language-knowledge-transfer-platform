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651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88952" cy="6400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AI-Powered Cross-Language
Knowledge Transfer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7639" y="2121408"/>
            <a:ext cx="4251960" cy="347472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Phase-I Review  |  Academic Year 2026–2027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1952244" y="2816352"/>
            <a:ext cx="1920240" cy="475488"/>
          </a:xfrm>
          <a:prstGeom prst="rect">
            <a:avLst/>
          </a:prstGeom>
          <a:solidFill>
            <a:srgbClr val="44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🌐  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99916" y="2898648"/>
            <a:ext cx="201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363EB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073652" y="2816352"/>
            <a:ext cx="192024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⚡  AI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1324" y="2898648"/>
            <a:ext cx="201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363EB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5060" y="2816352"/>
            <a:ext cx="1920240" cy="47548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📚 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2732" y="2898648"/>
            <a:ext cx="201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363E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16468" y="2816352"/>
            <a:ext cx="1920240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👥  Users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56432"/>
            <a:ext cx="507492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204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PRESENTED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5876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alibri"/>
              </a:rPr>
              <a:t>Student Name 1  |  Register 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42816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alibri"/>
              </a:rPr>
              <a:t>Student Name 2  |  Register No.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2686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alibri"/>
              </a:rPr>
              <a:t>Student Name 3  |  Register No.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1091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alibri"/>
              </a:rPr>
              <a:t>Student Name 4  |  Register No.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456432"/>
            <a:ext cx="507492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5204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GUIDED 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8587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Prof. Guide 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22452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Assistant Professor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55371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Department of Computer Science &amp; AI/DS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88289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  <a:latin typeface="Calibri"/>
              </a:rPr>
              <a:t>Your College Name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Department of Computer Science / AI &amp; DS  •  Academic Year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Problem Definition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2120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ACAF0"/>
                </a:solidFill>
                <a:latin typeface="Calibri"/>
              </a:rPr>
              <a:t>Slide 2 of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914400"/>
            <a:ext cx="11521440" cy="841248"/>
          </a:xfrm>
          <a:prstGeom prst="rect">
            <a:avLst/>
          </a:prstGeom>
          <a:solidFill>
            <a:srgbClr val="DBEAFE"/>
          </a:solidFill>
          <a:ln w="1270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9264"/>
            <a:ext cx="11201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3A8A"/>
                </a:solidFill>
                <a:latin typeface="Calibri"/>
              </a:rPr>
              <a:t>Knowledge is increasingly available in digital documents, but language barriers prevent effective access. Existing translation tools focus on text conversion — they do not provide knowledge-grounded Q&amp;A, semantic retrieval, or document-based cross-language conversations.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8470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Calibri"/>
              </a:rPr>
              <a:t>IDENTIFIED PROBLEMS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2148840"/>
            <a:ext cx="37307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03704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  <a:latin typeface="Calibri"/>
              </a:rPr>
              <a:t>📂  Multi-Language 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78024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Knowledge scattered across documents in different languages.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7952" y="2148840"/>
            <a:ext cx="37307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203704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  <a:latin typeface="Calibri"/>
              </a:rPr>
              <a:t>🧠  Native Language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Users understand concepts better in their native language.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8432" y="2148840"/>
            <a:ext cx="37307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203704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  <a:latin typeface="Calibri"/>
              </a:rPr>
              <a:t>🔍  Poor Cross-Language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478024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Traditional keyword search fails across language boundaries.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916936"/>
            <a:ext cx="37307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  <a:latin typeface="Calibri"/>
              </a:rPr>
              <a:t>⚠️  Context Loss in Translation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46120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Direct translation may lose technical context &amp; terminology.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7952" y="2916936"/>
            <a:ext cx="37307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971800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  <a:latin typeface="Calibri"/>
              </a:rPr>
              <a:t>🤖  Ungrounded AI Chatbots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246120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General AI may not be grounded in the user's own documents.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28432" y="2916936"/>
            <a:ext cx="373075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2971800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  <a:latin typeface="Calibri"/>
              </a:rPr>
              <a:t>🔁  Repetitive Manual Effort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246120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Users repeatedly translate and interpret the same content.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5276088"/>
            <a:ext cx="1152144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53766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Calibri"/>
              </a:rPr>
              <a:t>MOTIVATION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56235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4438CA"/>
                </a:solidFill>
                <a:latin typeface="Calibri"/>
              </a:rPr>
              <a:t>"To create a single platform where knowledge available in one language can be searched, understood, summarized, translated, and queried in another language."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720" y="6053328"/>
            <a:ext cx="3200400" cy="5486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Language
Barrier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6181344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8A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73168" y="6053328"/>
            <a:ext cx="3200400" cy="548640"/>
          </a:xfrm>
          <a:prstGeom prst="rect">
            <a:avLst/>
          </a:prstGeom>
          <a:solidFill>
            <a:srgbClr val="D97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Knowledge
Barrier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37576" y="6181344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8A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57616" y="6053328"/>
            <a:ext cx="320040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AI-Powered
Knowledge Transfer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2120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ACAF0"/>
                </a:solidFill>
                <a:latin typeface="Calibri"/>
              </a:rPr>
              <a:t>Slide 3 of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2103120" cy="43891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53312"/>
            <a:ext cx="2103120" cy="3995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426464"/>
            <a:ext cx="18836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  <a:latin typeface="Calibri"/>
              </a:rPr>
              <a:t>Multilingual Knowledge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011680"/>
            <a:ext cx="18836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Allow users to upload, organize, and manage knowledge documents in any supported language.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1176" y="914400"/>
            <a:ext cx="2103120" cy="438912"/>
          </a:xfrm>
          <a:prstGeom prst="rect">
            <a:avLst/>
          </a:prstGeom>
          <a:solidFill>
            <a:srgbClr val="44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1176" y="1353312"/>
            <a:ext cx="2103120" cy="3995928"/>
          </a:xfrm>
          <a:prstGeom prst="rect">
            <a:avLst/>
          </a:prstGeom>
          <a:solidFill>
            <a:srgbClr val="FFFFFF"/>
          </a:solidFill>
          <a:ln w="19050">
            <a:solidFill>
              <a:srgbClr val="44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60904" y="1426464"/>
            <a:ext cx="18836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38CA"/>
                </a:solidFill>
                <a:latin typeface="Calibri"/>
              </a:rPr>
              <a:t>Cross-Language Semantic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0904" y="2011680"/>
            <a:ext cx="18836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Use multilingual text embeddings to retrieve relevant information across language boundaries.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82312" y="914400"/>
            <a:ext cx="210312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1353312"/>
            <a:ext cx="2103120" cy="399592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426464"/>
            <a:ext cx="18836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RAG-Based Question Answering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011680"/>
            <a:ext cx="18836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Generate answers that are grounded in the uploaded knowledge, reducing hallucination.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13448" y="914400"/>
            <a:ext cx="2103120" cy="438912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13448" y="1353312"/>
            <a:ext cx="2103120" cy="3995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3176" y="1426464"/>
            <a:ext cx="18836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63EB"/>
                </a:solidFill>
                <a:latin typeface="Calibri"/>
              </a:rPr>
              <a:t>Multilingual User Interaction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3176" y="2011680"/>
            <a:ext cx="18836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Allow users to ask questions and receive explanations in their preferred language.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44584" y="914400"/>
            <a:ext cx="210312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44584" y="1353312"/>
            <a:ext cx="2103120" cy="3995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4312" y="1426464"/>
            <a:ext cx="18836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Intelligent Knowledge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2011680"/>
            <a:ext cx="18836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Support translation, summarization, simplification, and concept extraction.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468112"/>
            <a:ext cx="11548872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5595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8A"/>
                </a:solidFill>
                <a:latin typeface="Calibri"/>
              </a:rPr>
              <a:t>EXPECTED TECHNICAL OUTCOME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870448"/>
            <a:ext cx="1920240" cy="6583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English
Document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13432" y="6035040"/>
            <a:ext cx="173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8A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87168" y="5870448"/>
            <a:ext cx="1920240" cy="658368"/>
          </a:xfrm>
          <a:prstGeom prst="rect">
            <a:avLst/>
          </a:prstGeom>
          <a:solidFill>
            <a:srgbClr val="44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Tamil / Hindi
Query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6035040"/>
            <a:ext cx="173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8A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08576" y="5870448"/>
            <a:ext cx="1920240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Semantic
Retrieval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6035040"/>
            <a:ext cx="173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8A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9984" y="5870448"/>
            <a:ext cx="1920240" cy="65836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Grounded
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77656" y="6035040"/>
            <a:ext cx="173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8A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51392" y="5870448"/>
            <a:ext cx="1920240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User's
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2120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ACAF0"/>
                </a:solidFill>
                <a:latin typeface="Calibri"/>
              </a:rPr>
              <a:t>Slide 4 of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32688"/>
            <a:ext cx="4663440" cy="402336"/>
          </a:xfrm>
          <a:prstGeom prst="rect">
            <a:avLst/>
          </a:prstGeom>
          <a:solidFill>
            <a:srgbClr val="1E3A8A"/>
          </a:solidFill>
          <a:ln w="63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Research Work / Authors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83480" y="932688"/>
            <a:ext cx="594360" cy="402336"/>
          </a:xfrm>
          <a:prstGeom prst="rect">
            <a:avLst/>
          </a:prstGeom>
          <a:solidFill>
            <a:srgbClr val="1E3A8A"/>
          </a:solidFill>
          <a:ln w="63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932688"/>
            <a:ext cx="3520440" cy="402336"/>
          </a:xfrm>
          <a:prstGeom prst="rect">
            <a:avLst/>
          </a:prstGeom>
          <a:solidFill>
            <a:srgbClr val="1E3A8A"/>
          </a:solidFill>
          <a:ln w="63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Key Contribution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932688"/>
            <a:ext cx="3090672" cy="402336"/>
          </a:xfrm>
          <a:prstGeom prst="rect">
            <a:avLst/>
          </a:prstGeom>
          <a:solidFill>
            <a:srgbClr val="1E3A8A"/>
          </a:solidFill>
          <a:ln w="63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Relevance to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35024"/>
            <a:ext cx="466344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389888"/>
            <a:ext cx="45354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3A8A"/>
                </a:solidFill>
                <a:latin typeface="Calibri"/>
              </a:rPr>
              <a:t>Lewis et al.
Retrieval-Augmented Generation for
Knowledge-Intensive NLP Tasks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1335024"/>
            <a:ext cx="5943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1389888"/>
            <a:ext cx="46634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2020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335024"/>
            <a:ext cx="352044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41848" y="1389888"/>
            <a:ext cx="33924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Introduced RAG: combining retrieval with generative models.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335024"/>
            <a:ext cx="3090672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2288" y="1389888"/>
            <a:ext cx="2962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Core foundation for knowledge-grounded chatbot.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21408"/>
            <a:ext cx="4663440" cy="786384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176272"/>
            <a:ext cx="45354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3A8A"/>
                </a:solidFill>
                <a:latin typeface="Calibri"/>
              </a:rPr>
              <a:t>Karpukhin et al.
Dense Passage Retrieval for
Open-Domain Question Answering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80" y="2121408"/>
            <a:ext cx="594360" cy="786384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7488" y="2176272"/>
            <a:ext cx="46634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2020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2121408"/>
            <a:ext cx="3520440" cy="786384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41848" y="2176272"/>
            <a:ext cx="33924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Dense-vector based passage retrieval for open-domain QA.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2121408"/>
            <a:ext cx="3090672" cy="786384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288" y="2176272"/>
            <a:ext cx="2962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Supports semantic retrieval over document chunks.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907792"/>
            <a:ext cx="466344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2962656"/>
            <a:ext cx="45354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3A8A"/>
                </a:solidFill>
                <a:latin typeface="Calibri"/>
              </a:rPr>
              <a:t>Feng et al.
Language-agnostic BERT Sentence
Embedding (LaBSE)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2907792"/>
            <a:ext cx="5943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7488" y="2962656"/>
            <a:ext cx="46634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2022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2907792"/>
            <a:ext cx="352044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41848" y="2962656"/>
            <a:ext cx="33924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Multilingual embeddings mapping similar text across languages nearby.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2907792"/>
            <a:ext cx="3090672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62288" y="2962656"/>
            <a:ext cx="2962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Enables cross-language semantic matching.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694176"/>
            <a:ext cx="4663440" cy="786384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3749040"/>
            <a:ext cx="45354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3A8A"/>
                </a:solidFill>
                <a:latin typeface="Calibri"/>
              </a:rPr>
              <a:t>Wang et al.
Text Embeddings by Contrastive
Pre-Training (E5)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83480" y="3694176"/>
            <a:ext cx="594360" cy="786384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7488" y="3749040"/>
            <a:ext cx="46634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2022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3694176"/>
            <a:ext cx="3520440" cy="786384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41848" y="3749040"/>
            <a:ext cx="33924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Contrastive learning for high-quality semantic text embeddings.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3694176"/>
            <a:ext cx="3090672" cy="786384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62288" y="3749040"/>
            <a:ext cx="2962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Supports semantic search and retrieval.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480560"/>
            <a:ext cx="466344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535424"/>
            <a:ext cx="45354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3A8A"/>
                </a:solidFill>
                <a:latin typeface="Calibri"/>
              </a:rPr>
              <a:t>Wang et al.
Multilingual E5 Text Embeddings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83480" y="4480560"/>
            <a:ext cx="5943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47488" y="4535424"/>
            <a:ext cx="46634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2024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4480560"/>
            <a:ext cx="352044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41848" y="4535424"/>
            <a:ext cx="33924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Multilingual extension of E5 covering 100+ languages.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4480560"/>
            <a:ext cx="3090672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62288" y="4535424"/>
            <a:ext cx="2962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Directly supports cross-language document retrieval.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5705856"/>
            <a:ext cx="11548872" cy="42062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Research Direction:   RAG  +  Dense Retrieval  +  Multilingual Embeddings  →  Cross-Language Knowledge Transfer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2120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ACAF0"/>
                </a:solidFill>
                <a:latin typeface="Calibri"/>
              </a:rPr>
              <a:t>Slide 5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93268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Calibri"/>
              </a:rPr>
              <a:t>EXISTING RESEARCH — INDIVIDUAL 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261872"/>
            <a:ext cx="53949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363EB"/>
                </a:solidFill>
                <a:latin typeface="Calibri"/>
              </a:rPr>
              <a:t>🔷 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Grounded generation — but does not inherently solve cross-language user interaction.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103120"/>
            <a:ext cx="53949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44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438CA"/>
                </a:solidFill>
                <a:latin typeface="Calibri"/>
              </a:rPr>
              <a:t>🔷  Dense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Strong semantic retrieval — but not designed for multilingual knowledge transfer.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61872"/>
            <a:ext cx="53949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13258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C3AED"/>
                </a:solidFill>
                <a:latin typeface="Calibri"/>
              </a:rPr>
              <a:t>🔷  Multilingual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1627632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Cross-language similarity — but no complete document-based conversational system.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103120"/>
            <a:ext cx="53949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21671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766E"/>
                </a:solidFill>
                <a:latin typeface="Calibri"/>
              </a:rPr>
              <a:t>🔷  Translation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2468880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Language conversion — but no document-grounded reasoning or retrieval.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127248"/>
            <a:ext cx="11548872" cy="457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" y="3246120"/>
            <a:ext cx="11548872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337560"/>
            <a:ext cx="111831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Existing Technologies:   RAG  |  Embeddings  |  Translation  |  Semantic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977640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8A"/>
                </a:solidFill>
                <a:latin typeface="Calibri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4105656"/>
            <a:ext cx="11548872" cy="731520"/>
          </a:xfrm>
          <a:prstGeom prst="rect">
            <a:avLst/>
          </a:prstGeom>
          <a:solidFill>
            <a:srgbClr val="EA580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97096"/>
            <a:ext cx="111831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⚡  Integration Gap  —  No unified cross-language knowledge platform exists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837176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8A"/>
                </a:solidFill>
                <a:latin typeface="Calibri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4965192"/>
            <a:ext cx="11548872" cy="731520"/>
          </a:xfrm>
          <a:prstGeom prst="rect">
            <a:avLst/>
          </a:prstGeom>
          <a:solidFill>
            <a:srgbClr val="16A34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56632"/>
            <a:ext cx="111831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✅  Our Proposed Platform:  Cross-Language Retrieval  +  RAG  +  Multilingual Response Generation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5733288"/>
            <a:ext cx="11548872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806440"/>
            <a:ext cx="111831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1">
                <a:solidFill>
                  <a:srgbClr val="1E3A8A"/>
                </a:solidFill>
                <a:latin typeface="Calibri"/>
              </a:rPr>
              <a:t>"There is a need for an integrated platform that combines multilingual semantic retrieval, RAG, translation, summarization, and conversational interaction to enable knowledge transfer across languages."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Existing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2120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ACAF0"/>
                </a:solidFill>
                <a:latin typeface="Calibri"/>
              </a:rPr>
              <a:t>Slide 6 of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960120"/>
            <a:ext cx="2697480" cy="438912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🔍  Traditional 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99032"/>
            <a:ext cx="2697480" cy="3538727"/>
          </a:xfrm>
          <a:prstGeom prst="rect">
            <a:avLst/>
          </a:prstGeom>
          <a:solidFill>
            <a:srgbClr val="FFFFFF"/>
          </a:solidFill>
          <a:ln w="1905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463040"/>
            <a:ext cx="2514600" cy="3410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  ›  Keyword-based retrieval
  ›  Language-dependent
  ›  Poor semantic understanding
  ›  Difficult cross-language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960120"/>
            <a:ext cx="2697480" cy="438912"/>
          </a:xfrm>
          <a:prstGeom prst="rect">
            <a:avLst/>
          </a:prstGeom>
          <a:solidFill>
            <a:srgbClr val="44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🌐  Machine Translation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99032"/>
            <a:ext cx="2697480" cy="3538727"/>
          </a:xfrm>
          <a:prstGeom prst="rect">
            <a:avLst/>
          </a:prstGeom>
          <a:solidFill>
            <a:srgbClr val="FFFFFF"/>
          </a:solidFill>
          <a:ln w="19050">
            <a:solidFill>
              <a:srgbClr val="44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463040"/>
            <a:ext cx="2514600" cy="3410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  ›  Useful for language conversion
  ›  No document-grounded Q&amp;A
  ›  No conversational interaction
  ›  No citation of 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960120"/>
            <a:ext cx="269748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🤖  General AI Chatbots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1399032"/>
            <a:ext cx="2697480" cy="3538727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463040"/>
            <a:ext cx="2514600" cy="3410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  ›  Can explain and translate information
  ›  May generate unsupported information
  ›  User docs NOT automatic knowledge source
  ›  No cross-language retrieval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06256" y="960120"/>
            <a:ext cx="2697480" cy="43891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📖  Conventional RAG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6256" y="1399032"/>
            <a:ext cx="2697480" cy="3538727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463040"/>
            <a:ext cx="2514600" cy="3410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  ›  Retrieves relevant document chunks
  ›  Generates grounded responses
  ›  Designed for same-language queries
  ›  No multilingual cross-language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5074920"/>
            <a:ext cx="11548872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166360"/>
            <a:ext cx="111831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991010"/>
                </a:solidFill>
                <a:latin typeface="Calibri"/>
              </a:rPr>
              <a:t>⚠  Common Limitation:  No unified workflow for cross-language document retrieval + grounded question answering + translation + contextual knowledge interaction.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574243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These systems work independently — no integrated cross-language knowledge platform exists.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2120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ACAF0"/>
                </a:solidFill>
                <a:latin typeface="Calibri"/>
              </a:rPr>
              <a:t>Slide 7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9326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Calibri"/>
              </a:rPr>
              <a:t>PROPOSED PLATFORM COMBINES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53312"/>
            <a:ext cx="292608" cy="2743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984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  <a:latin typeface="Calibri"/>
              </a:rPr>
              <a:t>Document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Upload PDF / DOCX / TXT / PPTX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975104"/>
            <a:ext cx="292608" cy="2743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  <a:latin typeface="Calibri"/>
              </a:rPr>
              <a:t>Language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762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Automatic source language identification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2596896"/>
            <a:ext cx="292608" cy="2743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420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  <a:latin typeface="Calibri"/>
              </a:rPr>
              <a:t>Multilingual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980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Semantic vector representation across languages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3218688"/>
            <a:ext cx="292608" cy="2743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6382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  <a:latin typeface="Calibri"/>
              </a:rPr>
              <a:t>Cross-Language Semantic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1985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Vector similarity search across language boundaries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840480"/>
            <a:ext cx="292608" cy="2743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8561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  <a:latin typeface="Calibri"/>
              </a:rPr>
              <a:t>Retrieval-Augmented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416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Answers grounded in uploaded knowledge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4462272"/>
            <a:ext cx="292608" cy="2743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074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  <a:latin typeface="Calibri"/>
              </a:rPr>
              <a:t>AI Translation &amp; Summarization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Knowledge delivery in user's preferred language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5084064"/>
            <a:ext cx="292608" cy="2743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292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3A8A"/>
                </a:solidFill>
                <a:latin typeface="Calibri"/>
              </a:rPr>
              <a:t>Conversational Q&amp;A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852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Multi-turn chat with source citations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932688"/>
            <a:ext cx="5486400" cy="932688"/>
          </a:xfrm>
          <a:prstGeom prst="rect">
            <a:avLst/>
          </a:prstGeom>
          <a:solidFill>
            <a:srgbClr val="DBEAFE"/>
          </a:solidFill>
          <a:ln w="1270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96926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8A"/>
                </a:solidFill>
                <a:latin typeface="Calibri"/>
              </a:rPr>
              <a:t>CORE IDEA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11887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438CA"/>
                </a:solidFill>
                <a:latin typeface="Calibri"/>
              </a:rPr>
              <a:t>Knowledge Language  ≠  User Language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15087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1E293B"/>
                </a:solidFill>
                <a:latin typeface="Calibri"/>
              </a:rPr>
              <a:t>Document: English  |  Question: Tamil  →  Answer: Tamil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011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Calibri"/>
              </a:rPr>
              <a:t>PROPOSED WORKFLOW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2304288"/>
            <a:ext cx="5120640" cy="3931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Upload Knowledge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2697480"/>
            <a:ext cx="182880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3A8A"/>
                </a:solidFill>
                <a:latin typeface="Calibri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2752344"/>
            <a:ext cx="5120640" cy="393192"/>
          </a:xfrm>
          <a:prstGeom prst="rect">
            <a:avLst/>
          </a:prstGeom>
          <a:solidFill>
            <a:srgbClr val="44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Process &amp; Index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3145536"/>
            <a:ext cx="182880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3A8A"/>
                </a:solidFill>
                <a:latin typeface="Calibri"/>
              </a:rPr>
              <a:t>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3200400"/>
            <a:ext cx="5120640" cy="3931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Multilingual Embeddings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3593592"/>
            <a:ext cx="182880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3A8A"/>
                </a:solidFill>
                <a:latin typeface="Calibri"/>
              </a:rPr>
              <a:t>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3648456"/>
            <a:ext cx="5120640" cy="393192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Cross-Language Semantic 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041648"/>
            <a:ext cx="182880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3A8A"/>
                </a:solidFill>
                <a:latin typeface="Calibri"/>
              </a:rPr>
              <a:t>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4096512"/>
            <a:ext cx="5120640" cy="393192"/>
          </a:xfrm>
          <a:prstGeom prst="rect">
            <a:avLst/>
          </a:prstGeom>
          <a:solidFill>
            <a:srgbClr val="037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Retrieve Relevant Knowledge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4489704"/>
            <a:ext cx="182880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3A8A"/>
                </a:solidFill>
                <a:latin typeface="Calibri"/>
              </a:rPr>
              <a:t>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4544568"/>
            <a:ext cx="5120640" cy="393192"/>
          </a:xfrm>
          <a:prstGeom prst="rect">
            <a:avLst/>
          </a:prstGeom>
          <a:solidFill>
            <a:srgbClr val="D97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RAG-Based Answer Generation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4937760"/>
            <a:ext cx="182880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3A8A"/>
                </a:solidFill>
                <a:latin typeface="Calibri"/>
              </a:rPr>
              <a:t>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7960" y="4992624"/>
            <a:ext cx="5120640" cy="3931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Answer + Sources in User Language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Proposed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2120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ACAF0"/>
                </a:solidFill>
                <a:latin typeface="Calibri"/>
              </a:rPr>
              <a:t>Slide 8 of 12  —  System Block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960120"/>
            <a:ext cx="3154680" cy="475488"/>
          </a:xfrm>
          <a:prstGeom prst="rect">
            <a:avLst/>
          </a:prstGeom>
          <a:solidFill>
            <a:srgbClr val="1E3A8A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96696"/>
            <a:ext cx="3026664" cy="256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📄  User Uploads 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97864"/>
            <a:ext cx="3026664" cy="218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ACAF0"/>
                </a:solidFill>
                <a:latin typeface="Calibri"/>
              </a:rPr>
              <a:t>PDF / DOCX / TXT / PPTX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4812.0" y="1435608"/>
            <a:ext cx="0.0" cy="109728"/>
          </a:xfrm>
          <a:prstGeom prst="line">
            <a:avLst/>
          </a:prstGeom>
          <a:ln w="19050">
            <a:solidFill>
              <a:srgbClr val="2363EB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47472" y="1545336"/>
            <a:ext cx="3154680" cy="475488"/>
          </a:xfrm>
          <a:prstGeom prst="rect">
            <a:avLst/>
          </a:prstGeom>
          <a:solidFill>
            <a:srgbClr val="4438CA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81912"/>
            <a:ext cx="3026664" cy="256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✅  File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783080"/>
            <a:ext cx="3026664" cy="218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ACAF0"/>
                </a:solidFill>
                <a:latin typeface="Calibri"/>
              </a:rPr>
              <a:t>Type · Size · Format check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24812.0" y="2020824"/>
            <a:ext cx="0.0" cy="109728"/>
          </a:xfrm>
          <a:prstGeom prst="line">
            <a:avLst/>
          </a:prstGeom>
          <a:ln w="19050">
            <a:solidFill>
              <a:srgbClr val="2363EB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7472" y="2130552"/>
            <a:ext cx="3154680" cy="475488"/>
          </a:xfrm>
          <a:prstGeom prst="rect">
            <a:avLst/>
          </a:prstGeom>
          <a:solidFill>
            <a:srgbClr val="4438CA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167128"/>
            <a:ext cx="3026664" cy="256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📝  Text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368296"/>
            <a:ext cx="3026664" cy="218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ACAF0"/>
                </a:solidFill>
                <a:latin typeface="Calibri"/>
              </a:rPr>
              <a:t>PyMuPDF · python-docx · pptx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4812.0" y="2606040"/>
            <a:ext cx="0.0" cy="109728"/>
          </a:xfrm>
          <a:prstGeom prst="line">
            <a:avLst/>
          </a:prstGeom>
          <a:ln w="19050">
            <a:solidFill>
              <a:srgbClr val="2363EB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47472" y="2715768"/>
            <a:ext cx="3154680" cy="475488"/>
          </a:xfrm>
          <a:prstGeom prst="rect">
            <a:avLst/>
          </a:prstGeom>
          <a:solidFill>
            <a:srgbClr val="7C3AED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752344"/>
            <a:ext cx="3026664" cy="256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🔤  Language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953512"/>
            <a:ext cx="3026664" cy="218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ACAF0"/>
                </a:solidFill>
                <a:latin typeface="Calibri"/>
              </a:rPr>
              <a:t>langdetect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24812.0" y="3191256"/>
            <a:ext cx="0.0" cy="109728"/>
          </a:xfrm>
          <a:prstGeom prst="line">
            <a:avLst/>
          </a:prstGeom>
          <a:ln w="19050">
            <a:solidFill>
              <a:srgbClr val="2363EB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47472" y="3300984"/>
            <a:ext cx="3154680" cy="475488"/>
          </a:xfrm>
          <a:prstGeom prst="rect">
            <a:avLst/>
          </a:prstGeom>
          <a:solidFill>
            <a:srgbClr val="7C3AED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337560"/>
            <a:ext cx="3026664" cy="256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✂️  Text Chunking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538728"/>
            <a:ext cx="3026664" cy="218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ACAF0"/>
                </a:solidFill>
                <a:latin typeface="Calibri"/>
              </a:rPr>
              <a:t>512 tokens · 50 overlap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24812.0" y="3776472"/>
            <a:ext cx="0.0" cy="109728"/>
          </a:xfrm>
          <a:prstGeom prst="line">
            <a:avLst/>
          </a:prstGeom>
          <a:ln w="19050">
            <a:solidFill>
              <a:srgbClr val="2363EB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47472" y="3886200"/>
            <a:ext cx="3154680" cy="475488"/>
          </a:xfrm>
          <a:prstGeom prst="rect">
            <a:avLst/>
          </a:prstGeom>
          <a:solidFill>
            <a:srgbClr val="2363EB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922776"/>
            <a:ext cx="3026664" cy="256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🧠  Multilingual Embeddings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123944"/>
            <a:ext cx="3026664" cy="218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ACAF0"/>
                </a:solidFill>
                <a:latin typeface="Calibri"/>
              </a:rPr>
              <a:t>multilingual-e5-large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30768" y="960120"/>
            <a:ext cx="3154680" cy="475488"/>
          </a:xfrm>
          <a:prstGeom prst="rect">
            <a:avLst/>
          </a:prstGeom>
          <a:solidFill>
            <a:srgbClr val="1E3A8A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94776" y="996696"/>
            <a:ext cx="3026664" cy="256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💬  User Query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94776" y="1197864"/>
            <a:ext cx="3026664" cy="218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ACAF0"/>
                </a:solidFill>
                <a:latin typeface="Calibri"/>
              </a:rPr>
              <a:t>Any Supported Language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08108.0" y="1435608"/>
            <a:ext cx="0.0" cy="109728"/>
          </a:xfrm>
          <a:prstGeom prst="line">
            <a:avLst/>
          </a:prstGeom>
          <a:ln w="19050">
            <a:solidFill>
              <a:srgbClr val="2363EB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430768" y="1545336"/>
            <a:ext cx="3154680" cy="475488"/>
          </a:xfrm>
          <a:prstGeom prst="rect">
            <a:avLst/>
          </a:prstGeom>
          <a:solidFill>
            <a:srgbClr val="4438CA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94776" y="1581912"/>
            <a:ext cx="3026664" cy="256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🔤  Query Language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94776" y="1783080"/>
            <a:ext cx="3026664" cy="218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ACAF0"/>
                </a:solidFill>
                <a:latin typeface="Calibri"/>
              </a:rPr>
              <a:t>Tamil / Hindi / Telugu / ...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08108.0" y="2020824"/>
            <a:ext cx="0.0" cy="109728"/>
          </a:xfrm>
          <a:prstGeom prst="line">
            <a:avLst/>
          </a:prstGeom>
          <a:ln w="19050">
            <a:solidFill>
              <a:srgbClr val="2363EB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430768" y="2130552"/>
            <a:ext cx="3154680" cy="475488"/>
          </a:xfrm>
          <a:prstGeom prst="rect">
            <a:avLst/>
          </a:prstGeom>
          <a:solidFill>
            <a:srgbClr val="7C3AED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94776" y="2167128"/>
            <a:ext cx="3026664" cy="256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🧠  Query Embedding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4776" y="2368296"/>
            <a:ext cx="3026664" cy="218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ACAF0"/>
                </a:solidFill>
                <a:latin typeface="Calibri"/>
              </a:rPr>
              <a:t>Same multilingual-e5 model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008108.0" y="2606040"/>
            <a:ext cx="0.0" cy="109728"/>
          </a:xfrm>
          <a:prstGeom prst="line">
            <a:avLst/>
          </a:prstGeom>
          <a:ln w="19050">
            <a:solidFill>
              <a:srgbClr val="2363EB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8430768" y="2715768"/>
            <a:ext cx="3154680" cy="475488"/>
          </a:xfrm>
          <a:prstGeom prst="rect">
            <a:avLst/>
          </a:prstGeom>
          <a:solidFill>
            <a:srgbClr val="2363EB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94776" y="2752344"/>
            <a:ext cx="3026664" cy="256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⭐  Cross-Language Retrieval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94776" y="2953512"/>
            <a:ext cx="3026664" cy="218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ACAF0"/>
                </a:solidFill>
                <a:latin typeface="Calibri"/>
              </a:rPr>
              <a:t>Cosine Similarity · Top-K Chunks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008108.0" y="3191256"/>
            <a:ext cx="0.0" cy="109728"/>
          </a:xfrm>
          <a:prstGeom prst="line">
            <a:avLst/>
          </a:prstGeom>
          <a:ln w="19050">
            <a:solidFill>
              <a:srgbClr val="2363EB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8430768" y="3300984"/>
            <a:ext cx="3154680" cy="475488"/>
          </a:xfrm>
          <a:prstGeom prst="rect">
            <a:avLst/>
          </a:prstGeom>
          <a:solidFill>
            <a:srgbClr val="D97707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94776" y="3337560"/>
            <a:ext cx="3026664" cy="256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🤖  RAG  +  LLM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94776" y="3538728"/>
            <a:ext cx="3026664" cy="218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ACAF0"/>
                </a:solidFill>
                <a:latin typeface="Calibri"/>
              </a:rPr>
              <a:t>Context + Prompt + Gemini Flash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008108.0" y="3776472"/>
            <a:ext cx="0.0" cy="109728"/>
          </a:xfrm>
          <a:prstGeom prst="line">
            <a:avLst/>
          </a:prstGeom>
          <a:ln w="19050">
            <a:solidFill>
              <a:srgbClr val="2363EB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8430768" y="3886200"/>
            <a:ext cx="3154680" cy="475488"/>
          </a:xfrm>
          <a:prstGeom prst="rect">
            <a:avLst/>
          </a:prstGeom>
          <a:solidFill>
            <a:srgbClr val="16A34A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94776" y="3922776"/>
            <a:ext cx="3026664" cy="256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🌐  Translate &amp; Respond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94776" y="4123944"/>
            <a:ext cx="3026664" cy="218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ACAF0"/>
                </a:solidFill>
                <a:latin typeface="Calibri"/>
              </a:rPr>
              <a:t>Answer in User's Language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87952" y="3776472"/>
            <a:ext cx="3566160" cy="694944"/>
          </a:xfrm>
          <a:prstGeom prst="rect">
            <a:avLst/>
          </a:prstGeom>
          <a:solidFill>
            <a:srgbClr val="1D4ED8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79392" y="381304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🗄  VECTOR DATABASE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79392" y="414223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ACAF0"/>
                </a:solidFill>
                <a:latin typeface="Calibri"/>
              </a:rPr>
              <a:t>pgvector  ·  HNSW Index  ·  Cosine Similarity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502152" y="4123944.0"/>
            <a:ext cx="685800" cy="0.0"/>
          </a:xfrm>
          <a:prstGeom prst="line">
            <a:avLst/>
          </a:prstGeom>
          <a:ln w="25400">
            <a:solidFill>
              <a:srgbClr val="2363EB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754112" y="2953512.0"/>
            <a:ext cx="676656" cy="1170432.0"/>
          </a:xfrm>
          <a:prstGeom prst="line">
            <a:avLst/>
          </a:prstGeom>
          <a:ln w="25400">
            <a:solidFill>
              <a:srgbClr val="D97707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8339328" y="2642616"/>
            <a:ext cx="3337560" cy="621792"/>
          </a:xfrm>
          <a:prstGeom prst="rect">
            <a:avLst/>
          </a:prstGeom>
          <a:noFill/>
          <a:ln w="31750">
            <a:solidFill>
              <a:srgbClr val="D97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0" y="25146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707"/>
                </a:solidFill>
                <a:latin typeface="Calibri"/>
              </a:rPr>
              <a:t>★ KEY INNOVATION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472" y="6071616"/>
            <a:ext cx="11548872" cy="5303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7472" y="6163056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🔐  JWT Auth   |   🗃  PostgreSQL   |   ⚡  Redis + Celery   |   🐳  Docker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Methodology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2120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ACAF0"/>
                </a:solidFill>
                <a:latin typeface="Calibri"/>
              </a:rPr>
              <a:t>Slide 9 of 12  —  8 Core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1426464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1426464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User
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55648"/>
            <a:ext cx="1426464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1819656"/>
            <a:ext cx="13167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Registration/Login
• JWT Authentication
• User Profile
• Access 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60220" y="932688"/>
            <a:ext cx="1426464" cy="347472"/>
          </a:xfrm>
          <a:prstGeom prst="rect">
            <a:avLst/>
          </a:prstGeom>
          <a:solidFill>
            <a:srgbClr val="44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60220" y="1280160"/>
            <a:ext cx="1426464" cy="475488"/>
          </a:xfrm>
          <a:prstGeom prst="rect">
            <a:avLst/>
          </a:prstGeom>
          <a:solidFill>
            <a:srgbClr val="44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Document
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60220" y="1755648"/>
            <a:ext cx="1426464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4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15084" y="1819656"/>
            <a:ext cx="13167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Upload PDF/DOCX/TXT/PPTX
• Validation
• Text Extraction
• Metadata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932688"/>
            <a:ext cx="1426464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280160"/>
            <a:ext cx="1426464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Language
Processing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755648"/>
            <a:ext cx="1426464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0984" y="1819656"/>
            <a:ext cx="13167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Language Detection
• Text Preprocessing
• Multilingual Handling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32020" y="932688"/>
            <a:ext cx="1426464" cy="347472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32020" y="1280160"/>
            <a:ext cx="1426464" cy="47548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Embedding
&amp; Indexing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2020" y="1755648"/>
            <a:ext cx="1426464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6884" y="1819656"/>
            <a:ext cx="13167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Chunking (512 tok)
• Multilingual E5
• Vector Generation
• pgvector Store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932688"/>
            <a:ext cx="1426464" cy="347472"/>
          </a:xfrm>
          <a:prstGeom prst="rect">
            <a:avLst/>
          </a:prstGeom>
          <a:solidFill>
            <a:srgbClr val="037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280160"/>
            <a:ext cx="1426464" cy="475488"/>
          </a:xfrm>
          <a:prstGeom prst="rect">
            <a:avLst/>
          </a:prstGeom>
          <a:solidFill>
            <a:srgbClr val="037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Cross-Lang
Retrieval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755648"/>
            <a:ext cx="1426464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37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1819656"/>
            <a:ext cx="13167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Query Embedding
• Cosine Similarity
• Top-K Chunks
• Threshold Filter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03820" y="932688"/>
            <a:ext cx="1426464" cy="347472"/>
          </a:xfrm>
          <a:prstGeom prst="rect">
            <a:avLst/>
          </a:prstGeom>
          <a:solidFill>
            <a:srgbClr val="D97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03820" y="1280160"/>
            <a:ext cx="1426464" cy="475488"/>
          </a:xfrm>
          <a:prstGeom prst="rect">
            <a:avLst/>
          </a:prstGeom>
          <a:solidFill>
            <a:srgbClr val="D97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RAG Q&amp;A
System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03820" y="1755648"/>
            <a:ext cx="1426464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8684" y="1819656"/>
            <a:ext cx="13167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Context Assembly
• Prompt Engineering
• LLM Generation
• Hallucination Ctrl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932688"/>
            <a:ext cx="1426464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1280160"/>
            <a:ext cx="1426464" cy="4754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Knowledge
Transfer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20" y="1755648"/>
            <a:ext cx="1426464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44584" y="1819656"/>
            <a:ext cx="13167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Translation
• Summarization
• Simplification
• Concept Extraction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75620" y="932688"/>
            <a:ext cx="1426464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75620" y="1280160"/>
            <a:ext cx="1426464" cy="4754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Conversational
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75620" y="1755648"/>
            <a:ext cx="1426464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30484" y="1819656"/>
            <a:ext cx="13167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Chat History
• Follow-up Questions
• Source Citations
• User Feedback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6236208"/>
            <a:ext cx="11640312" cy="36576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29107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8A"/>
                </a:solidFill>
                <a:latin typeface="Calibri"/>
              </a:rPr>
              <a:t>M1  →  M2  →  M3  →  M4  →  M5  →  M6  →  M7  →  M8   (Integrated Platform Flow)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Requirements &amp;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2120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ACAF0"/>
                </a:solidFill>
                <a:latin typeface="Calibri"/>
              </a:rPr>
              <a:t>Slide 10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93268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Calibri"/>
              </a:rP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234440"/>
            <a:ext cx="5943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325880"/>
            <a:ext cx="109728" cy="164592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1298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React.js / Next.js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1581912"/>
            <a:ext cx="5943600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673352"/>
            <a:ext cx="109728" cy="164592"/>
          </a:xfrm>
          <a:prstGeom prst="rect">
            <a:avLst/>
          </a:prstGeom>
          <a:solidFill>
            <a:srgbClr val="44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45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FastAPI / Python 3.11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1929384"/>
            <a:ext cx="5943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2020824"/>
            <a:ext cx="109728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9933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19933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PostgreSQL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2276856"/>
            <a:ext cx="5943600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2368296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3408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Vector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23408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pgvector (HNSW Index)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2624328"/>
            <a:ext cx="5943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2715768"/>
            <a:ext cx="109728" cy="164592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6883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Embeddings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2032" y="26883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Multilingual E5 (HuggingFace)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2971800"/>
            <a:ext cx="5943600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3063240"/>
            <a:ext cx="109728" cy="164592"/>
          </a:xfrm>
          <a:prstGeom prst="rect">
            <a:avLst/>
          </a:prstGeom>
          <a:solidFill>
            <a:srgbClr val="D97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0358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2032" y="30358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Cloud LLM API (e.g. Gemini Flash)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3319272"/>
            <a:ext cx="5943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410712"/>
            <a:ext cx="109728" cy="164592"/>
          </a:xfrm>
          <a:prstGeom prst="rect">
            <a:avLst/>
          </a:prstGeom>
          <a:solidFill>
            <a:srgbClr val="037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383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Translation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42032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Cloud Translation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3666744"/>
            <a:ext cx="5943600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" y="3758184"/>
            <a:ext cx="10972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7307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Document Processing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2032" y="37307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PyMuPDF · python-docx · pptx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4014216"/>
            <a:ext cx="5943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4048" y="4105656"/>
            <a:ext cx="109728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0782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Authentication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42032" y="4078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JWT + bcrypt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" y="4361688"/>
            <a:ext cx="5943600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4048" y="4453128"/>
            <a:ext cx="109728" cy="164592"/>
          </a:xfrm>
          <a:prstGeom prst="rect">
            <a:avLst/>
          </a:prstGeom>
          <a:solidFill>
            <a:srgbClr val="44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4256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Task Queue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42032" y="44256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Celery + Redis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" y="4709160"/>
            <a:ext cx="5943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4048" y="4800600"/>
            <a:ext cx="109728" cy="164592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7731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Containerization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42032" y="4773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Docker + Docker Compose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" y="5056632"/>
            <a:ext cx="5943600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4048" y="5148072"/>
            <a:ext cx="109728" cy="164592"/>
          </a:xfrm>
          <a:prstGeom prst="rect">
            <a:avLst/>
          </a:prstGeom>
          <a:solidFill>
            <a:srgbClr val="1F2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120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Calibri"/>
              </a:rPr>
              <a:t>Version Control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42032" y="5120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Git + GitHub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9326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Calibri"/>
              </a:rPr>
              <a:t>HARDWARE REQUIREMENTS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1234440"/>
            <a:ext cx="53035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93408" y="1298448"/>
            <a:ext cx="508406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  ✓  Laptop / Desktop (development)
  ✓  Minimum 8 GB RAM
  ✓  Internet connection (for Cloud AI APIs)
  ✓  GPU — optional (Cloud APIs handle inference)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25237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Calibri"/>
              </a:rPr>
              <a:t>ALGORITHMS &amp; TECHNIQUES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0" y="2880360"/>
            <a:ext cx="137160" cy="201168"/>
          </a:xfrm>
          <a:prstGeom prst="rect">
            <a:avLst/>
          </a:prstGeom>
          <a:solidFill>
            <a:srgbClr val="44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84848" y="28529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NLP / Language Detection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0" y="3227832"/>
            <a:ext cx="137160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84848" y="32004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Text Chunking (Recursive Character)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0" y="3575304"/>
            <a:ext cx="137160" cy="20116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84848" y="35478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Multilingual Embeddings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0" y="3922776"/>
            <a:ext cx="137160" cy="20116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84848" y="38953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Cosine Similarity / Vector Search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0" y="4270248"/>
            <a:ext cx="137160" cy="201168"/>
          </a:xfrm>
          <a:prstGeom prst="rect">
            <a:avLst/>
          </a:prstGeom>
          <a:solidFill>
            <a:srgbClr val="D97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84848" y="42428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Retrieval-Augmented Generation (RAG)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0" y="4617720"/>
            <a:ext cx="137160" cy="201168"/>
          </a:xfrm>
          <a:prstGeom prst="rect">
            <a:avLst/>
          </a:prstGeom>
          <a:solidFill>
            <a:srgbClr val="037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84848" y="45902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Neural Machine Translation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83680" y="4965192"/>
            <a:ext cx="1371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84848" y="49377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Abstractive Text Summarization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0" y="5312664"/>
            <a:ext cx="137160" cy="2011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84848" y="52852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JWT Authentication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0" y="5669280"/>
            <a:ext cx="5303520" cy="40233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83680" y="57515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API Style:  RESTful API  |  JSON  |  JWT Bearer Auth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Initial Design &amp;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2120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ACAF0"/>
                </a:solidFill>
                <a:latin typeface="Calibri"/>
              </a:rPr>
              <a:t>Slide 11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93268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Calibri"/>
              </a:rPr>
              <a:t>INITIAL UI WIREFRAMES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261872"/>
            <a:ext cx="265176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298448"/>
            <a:ext cx="2514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● ● ●  Login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499616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15727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8A"/>
                </a:solidFill>
                <a:latin typeface="Calibri"/>
              </a:rPr>
              <a:t>CL-RAG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883664"/>
            <a:ext cx="23774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Email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2039112"/>
            <a:ext cx="2377440" cy="1645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212848"/>
            <a:ext cx="23774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Password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2368296"/>
            <a:ext cx="2377440" cy="1645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" y="2596896"/>
            <a:ext cx="2377440" cy="20116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Sign In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1261872"/>
            <a:ext cx="265176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298448"/>
            <a:ext cx="2514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● ● ● 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1499616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82112" y="1572768"/>
            <a:ext cx="810768" cy="23774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Spaces: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9456" y="1572768"/>
            <a:ext cx="810768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Docs: 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76800" y="1572768"/>
            <a:ext cx="810768" cy="237744"/>
          </a:xfrm>
          <a:prstGeom prst="rect">
            <a:avLst/>
          </a:prstGeom>
          <a:solidFill>
            <a:srgbClr val="44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Chats: 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1865376"/>
            <a:ext cx="2468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E3A8A"/>
                </a:solidFill>
                <a:latin typeface="Calibri"/>
              </a:rPr>
              <a:t>Recent Documents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029968"/>
            <a:ext cx="2468880" cy="164592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36976" y="2048256"/>
            <a:ext cx="23957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  <a:latin typeface="Calibri"/>
              </a:rPr>
              <a:t>📄 ML_Fundamentals.pdf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2231136"/>
            <a:ext cx="2468880" cy="164592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36976" y="2249424"/>
            <a:ext cx="23957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  <a:latin typeface="Calibri"/>
              </a:rPr>
              <a:t>📄 Networks.pdf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2432304"/>
            <a:ext cx="2468880" cy="164592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36976" y="2450592"/>
            <a:ext cx="23957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293B"/>
                </a:solidFill>
                <a:latin typeface="Calibri"/>
              </a:rPr>
              <a:t>📄 OS_Notes.docx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2880360"/>
            <a:ext cx="265176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2916936"/>
            <a:ext cx="2514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● ● ●  Document Upload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3118104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" y="3191256"/>
            <a:ext cx="2468880" cy="566928"/>
          </a:xfrm>
          <a:prstGeom prst="rect">
            <a:avLst/>
          </a:prstGeom>
          <a:solidFill>
            <a:srgbClr val="DBEAFE"/>
          </a:solidFill>
          <a:ln w="9525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209544"/>
            <a:ext cx="2432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E3A8A"/>
                </a:solidFill>
                <a:latin typeface="Calibri"/>
              </a:rPr>
              <a:t>📂  Drag &amp; Drop
PDF · DOCX · TXT · PPTX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3831336"/>
            <a:ext cx="2468880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3858768"/>
            <a:ext cx="2395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6A34A"/>
                </a:solidFill>
                <a:latin typeface="Calibri"/>
              </a:rPr>
              <a:t>📄 ML_Book.pdf   ✅ READY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4032504"/>
            <a:ext cx="2468880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4059936"/>
            <a:ext cx="2395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97707"/>
                </a:solidFill>
                <a:latin typeface="Calibri"/>
              </a:rPr>
              <a:t>📄 Networks.pdf   ⏳ Processing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2880360"/>
            <a:ext cx="2651760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0" y="2916936"/>
            <a:ext cx="25146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● ● ●  AI Chat — Tamil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3118104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108960" y="3118104"/>
            <a:ext cx="2651760" cy="20116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72968" y="3154680"/>
            <a:ext cx="25420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 i="0">
                <a:solidFill>
                  <a:srgbClr val="1E3A8A"/>
                </a:solidFill>
                <a:latin typeface="Calibri"/>
              </a:rPr>
              <a:t>📚 Machine Learning.pdf  |  🌏 தமிழ்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15968" y="3364992"/>
            <a:ext cx="1371600" cy="2743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34256" y="3383280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>"Machine learning என்றால் என்ன?"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3824" y="3703320"/>
            <a:ext cx="1737360" cy="384048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0" y="373075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E293B"/>
                </a:solidFill>
                <a:latin typeface="Calibri"/>
              </a:rPr>
              <a:t>"Machine Learning என்பது தரவிலிருந்து கற்றுக்கொள்ளும் AI முறை..."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63824" y="4123944"/>
            <a:ext cx="2542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16A34A"/>
                </a:solidFill>
                <a:latin typeface="Calibri"/>
              </a:rPr>
              <a:t>📖 Source: Machine Learning.pdf — Page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9326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Calibri"/>
              </a:rPr>
              <a:t>INITIAL PROGRESS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19088" y="1298448"/>
            <a:ext cx="5486400" cy="329184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0528" y="136245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14532D"/>
                </a:solidFill>
                <a:latin typeface="Calibri"/>
              </a:rPr>
              <a:t> ✔  Project problem identified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19088" y="1682496"/>
            <a:ext cx="5486400" cy="329184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10528" y="1746504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14532D"/>
                </a:solidFill>
                <a:latin typeface="Calibri"/>
              </a:rPr>
              <a:t> ✔  Project objectives defined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19088" y="2066544"/>
            <a:ext cx="5486400" cy="329184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10528" y="2130552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14532D"/>
                </a:solidFill>
                <a:latin typeface="Calibri"/>
              </a:rPr>
              <a:t> ✔  Literature survey completed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19088" y="2450592"/>
            <a:ext cx="5486400" cy="329184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10528" y="251460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14532D"/>
                </a:solidFill>
                <a:latin typeface="Calibri"/>
              </a:rPr>
              <a:t> ✔  Research gap identified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19088" y="2834640"/>
            <a:ext cx="5486400" cy="329184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10528" y="2898648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14532D"/>
                </a:solidFill>
                <a:latin typeface="Calibri"/>
              </a:rPr>
              <a:t> ✔  Initial architecture designed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19088" y="3218688"/>
            <a:ext cx="5486400" cy="329184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10528" y="328269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14532D"/>
                </a:solidFill>
                <a:latin typeface="Calibri"/>
              </a:rPr>
              <a:t> ✔  Technology stack shortlisted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19088" y="3602736"/>
            <a:ext cx="5486400" cy="329184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10528" y="3666744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14532D"/>
                </a:solidFill>
                <a:latin typeface="Calibri"/>
              </a:rPr>
              <a:t> ✔  Database schema designed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19088" y="3986784"/>
            <a:ext cx="5486400" cy="329184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10528" y="4050792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 i="0">
                <a:solidFill>
                  <a:srgbClr val="14532D"/>
                </a:solidFill>
                <a:latin typeface="Calibri"/>
              </a:rPr>
              <a:t> ✔  UI wireframe initiated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19088" y="4480560"/>
            <a:ext cx="5486400" cy="36576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19088" y="4517136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── Pending ──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19088" y="4370832"/>
            <a:ext cx="5486400" cy="329184"/>
          </a:xfrm>
          <a:prstGeom prst="rect">
            <a:avLst/>
          </a:prstGeom>
          <a:solidFill>
            <a:srgbClr val="FFFBEB"/>
          </a:solidFill>
          <a:ln w="6350">
            <a:solidFill>
              <a:srgbClr val="D97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10528" y="443484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78350F"/>
                </a:solidFill>
                <a:latin typeface="Calibri"/>
              </a:rPr>
              <a:t> ⏳  Backend API development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19088" y="4754880"/>
            <a:ext cx="5486400" cy="329184"/>
          </a:xfrm>
          <a:prstGeom prst="rect">
            <a:avLst/>
          </a:prstGeom>
          <a:solidFill>
            <a:srgbClr val="FFFBEB"/>
          </a:solidFill>
          <a:ln w="6350">
            <a:solidFill>
              <a:srgbClr val="D97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10528" y="4818888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78350F"/>
                </a:solidFill>
                <a:latin typeface="Calibri"/>
              </a:rPr>
              <a:t> ⏳  RAG pipeline implementation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19088" y="5138928"/>
            <a:ext cx="5486400" cy="329184"/>
          </a:xfrm>
          <a:prstGeom prst="rect">
            <a:avLst/>
          </a:prstGeom>
          <a:solidFill>
            <a:srgbClr val="FFFBEB"/>
          </a:solidFill>
          <a:ln w="6350">
            <a:solidFill>
              <a:srgbClr val="D97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10528" y="520293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78350F"/>
                </a:solidFill>
                <a:latin typeface="Calibri"/>
              </a:rPr>
              <a:t> ⏳  Cross-language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Timeline &amp; 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2120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ACAF0"/>
                </a:solidFill>
                <a:latin typeface="Calibri"/>
              </a:rPr>
              <a:t>Slide 12 of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914400"/>
            <a:ext cx="914400" cy="347472"/>
          </a:xfrm>
          <a:prstGeom prst="rect">
            <a:avLst/>
          </a:prstGeom>
          <a:solidFill>
            <a:srgbClr val="1E3A8A"/>
          </a:solidFill>
          <a:ln w="63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Week</a:t>
            </a:r>
          </a:p>
        </p:txBody>
      </p:sp>
      <p:sp>
        <p:nvSpPr>
          <p:cNvPr id="7" name="Rectangle 6"/>
          <p:cNvSpPr/>
          <p:nvPr/>
        </p:nvSpPr>
        <p:spPr>
          <a:xfrm>
            <a:off x="1261872" y="914400"/>
            <a:ext cx="3730752" cy="347472"/>
          </a:xfrm>
          <a:prstGeom prst="rect">
            <a:avLst/>
          </a:prstGeom>
          <a:solidFill>
            <a:srgbClr val="1E3A8A"/>
          </a:solidFill>
          <a:ln w="63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992624" y="914400"/>
            <a:ext cx="3547872" cy="347472"/>
          </a:xfrm>
          <a:prstGeom prst="rect">
            <a:avLst/>
          </a:prstGeom>
          <a:solidFill>
            <a:srgbClr val="1E3A8A"/>
          </a:solidFill>
          <a:ln w="63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Expected 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261872"/>
            <a:ext cx="914400" cy="347472"/>
          </a:xfrm>
          <a:prstGeom prst="rect">
            <a:avLst/>
          </a:prstGeom>
          <a:solidFill>
            <a:srgbClr val="1E3A8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325880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Wk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1872" y="1261872"/>
            <a:ext cx="373075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5024" y="1325880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Literature survey + requirements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2624" y="1261872"/>
            <a:ext cx="35478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65776" y="1325880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Finalized requirements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1609344"/>
            <a:ext cx="914400" cy="347472"/>
          </a:xfrm>
          <a:prstGeom prst="rect">
            <a:avLst/>
          </a:prstGeom>
          <a:solidFill>
            <a:srgbClr val="1E3A8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" y="1673352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Wk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" y="1609344"/>
            <a:ext cx="3730752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35024" y="1673352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Architecture + database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2624" y="1609344"/>
            <a:ext cx="3547872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5776" y="1673352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System design complete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1956816"/>
            <a:ext cx="914400" cy="347472"/>
          </a:xfrm>
          <a:prstGeom prst="rect">
            <a:avLst/>
          </a:prstGeom>
          <a:solidFill>
            <a:srgbClr val="4438C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202082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Wk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61872" y="1956816"/>
            <a:ext cx="373075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5024" y="2020824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UI/UX + project setup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92624" y="1956816"/>
            <a:ext cx="35478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65776" y="2020824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Initial working UI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2304288"/>
            <a:ext cx="914400" cy="347472"/>
          </a:xfrm>
          <a:prstGeom prst="rect">
            <a:avLst/>
          </a:prstGeom>
          <a:solidFill>
            <a:srgbClr val="4438C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2368296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Wk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61872" y="2304288"/>
            <a:ext cx="3730752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35024" y="2368296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Authentication + document upload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92624" y="2304288"/>
            <a:ext cx="3547872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65776" y="2368296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Basic application running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2651760"/>
            <a:ext cx="914400" cy="347472"/>
          </a:xfrm>
          <a:prstGeom prst="rect">
            <a:avLst/>
          </a:prstGeom>
          <a:solidFill>
            <a:srgbClr val="7C3AE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" y="2715768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Wk 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61872" y="2651760"/>
            <a:ext cx="373075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35024" y="2715768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Document processing pipeline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92624" y="2651760"/>
            <a:ext cx="35478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65776" y="2715768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Extracted &amp; processed knowledge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2999232"/>
            <a:ext cx="914400" cy="347472"/>
          </a:xfrm>
          <a:prstGeom prst="rect">
            <a:avLst/>
          </a:prstGeom>
          <a:solidFill>
            <a:srgbClr val="2363E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" y="3063240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Wk 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61872" y="2999232"/>
            <a:ext cx="3730752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35024" y="3063240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Embeddings + vector database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92624" y="2999232"/>
            <a:ext cx="3547872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65776" y="3063240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Semantic search enabled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" y="3346704"/>
            <a:ext cx="914400" cy="347472"/>
          </a:xfrm>
          <a:prstGeom prst="rect">
            <a:avLst/>
          </a:prstGeom>
          <a:solidFill>
            <a:srgbClr val="037F5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3410712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Wk 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61872" y="3346704"/>
            <a:ext cx="373075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35024" y="3410712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RAG implementation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92624" y="3346704"/>
            <a:ext cx="35478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65776" y="3410712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Knowledge-grounded Q&amp;A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" y="3694176"/>
            <a:ext cx="914400" cy="347472"/>
          </a:xfrm>
          <a:prstGeom prst="rect">
            <a:avLst/>
          </a:prstGeom>
          <a:solidFill>
            <a:srgbClr val="037F5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4" y="375818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Wk 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61872" y="3694176"/>
            <a:ext cx="3730752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35024" y="3758184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Cross-language retrieval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92624" y="3694176"/>
            <a:ext cx="3547872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65776" y="3758184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Multilingual Q&amp;A working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7472" y="4041648"/>
            <a:ext cx="914400" cy="347472"/>
          </a:xfrm>
          <a:prstGeom prst="rect">
            <a:avLst/>
          </a:prstGeom>
          <a:solidFill>
            <a:srgbClr val="D97707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0624" y="4105656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Wk 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61872" y="4041648"/>
            <a:ext cx="373075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35024" y="4105656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Translation + summarization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92624" y="4041648"/>
            <a:ext cx="35478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65776" y="4105656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Knowledge transfer features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" y="4389120"/>
            <a:ext cx="914400" cy="347472"/>
          </a:xfrm>
          <a:prstGeom prst="rect">
            <a:avLst/>
          </a:prstGeom>
          <a:solidFill>
            <a:srgbClr val="D97707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0624" y="4453128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Wk 10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61872" y="4389120"/>
            <a:ext cx="3730752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35024" y="4453128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Integration + testing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92624" y="4389120"/>
            <a:ext cx="3547872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65776" y="4453128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Complete application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7472" y="4736592"/>
            <a:ext cx="914400" cy="347472"/>
          </a:xfrm>
          <a:prstGeom prst="rect">
            <a:avLst/>
          </a:prstGeom>
          <a:solidFill>
            <a:srgbClr val="16A34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0624" y="4800600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Wk 11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61872" y="4736592"/>
            <a:ext cx="373075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35024" y="4800600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Evaluation + optimization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92624" y="4736592"/>
            <a:ext cx="35478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65776" y="4800600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Performance results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7472" y="5084064"/>
            <a:ext cx="914400" cy="347472"/>
          </a:xfrm>
          <a:prstGeom prst="rect">
            <a:avLst/>
          </a:prstGeom>
          <a:solidFill>
            <a:srgbClr val="16A34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0624" y="5148072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Wk 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61872" y="5084064"/>
            <a:ext cx="3730752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35024" y="5148072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Deployment + documentation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992624" y="5084064"/>
            <a:ext cx="3547872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65776" y="5148072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Final project delivered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686800" y="914400"/>
            <a:ext cx="3182112" cy="2816352"/>
          </a:xfrm>
          <a:prstGeom prst="rect">
            <a:avLst/>
          </a:prstGeom>
          <a:solidFill>
            <a:srgbClr val="DBEAFE"/>
          </a:solidFill>
          <a:ln w="1270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796528" y="960120"/>
            <a:ext cx="2999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Calibri"/>
              </a:rPr>
              <a:t>REVIEW-2 TARGET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96528" y="1261872"/>
            <a:ext cx="2999232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  ✓  Working frontend UI
  ✓  User authentication
  ✓  Document upload
  ✓  Text extraction
  ✓  Language detection
  ✓  Embedding generation
  ✓  Vector database
  ✓  Basic RAG chatbot
  ✓  Initial cross-language demo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7472" y="5166360"/>
            <a:ext cx="11548872" cy="457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7472" y="52578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Calibri"/>
              </a:rPr>
              <a:t>EXPECTED OUTCOME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7472" y="5532120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1">
                <a:solidFill>
                  <a:srgbClr val="1E3A8A"/>
                </a:solidFill>
                <a:latin typeface="Calibri"/>
              </a:rPr>
              <a:t>"A working AI-powered platform capable of accepting knowledge in one language and allowing users to retrieve, understand, summarize, and interact with that knowledge in another language."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6053328"/>
            <a:ext cx="192024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Knowledge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432304" y="6199632"/>
            <a:ext cx="2194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8A"/>
                </a:solidFill>
                <a:latin typeface="Calibri"/>
              </a:rPr>
              <a:t>→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651760" y="6053328"/>
            <a:ext cx="1920240" cy="59436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AI Engine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26864" y="6199632"/>
            <a:ext cx="2194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8A"/>
                </a:solidFill>
                <a:latin typeface="Calibri"/>
              </a:rPr>
              <a:t>→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46320" y="6053328"/>
            <a:ext cx="1920240" cy="594360"/>
          </a:xfrm>
          <a:prstGeom prst="rect">
            <a:avLst/>
          </a:prstGeom>
          <a:solidFill>
            <a:srgbClr val="44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Cross-Language
Retrieval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21424" y="6199632"/>
            <a:ext cx="2194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8A"/>
                </a:solidFill>
                <a:latin typeface="Calibri"/>
              </a:rPr>
              <a:t>→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40880" y="6053328"/>
            <a:ext cx="192024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Understanding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15984" y="6199632"/>
            <a:ext cx="2194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8A"/>
                </a:solidFill>
                <a:latin typeface="Calibri"/>
              </a:rPr>
              <a:t>→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235440" y="6053328"/>
            <a:ext cx="192024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Knowledge
Transfer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